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9" r:id="rId8"/>
    <p:sldId id="259" r:id="rId9"/>
    <p:sldId id="267" r:id="rId10"/>
    <p:sldId id="270" r:id="rId11"/>
    <p:sldId id="271" r:id="rId12"/>
    <p:sldId id="272" r:id="rId13"/>
    <p:sldId id="266" r:id="rId14"/>
    <p:sldId id="260" r:id="rId15"/>
    <p:sldId id="262"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Text Hack Pluse Intelligent </a:t>
            </a:r>
            <a:br>
              <a:rPr lang="en-US" sz="4000" b="1" dirty="0">
                <a:solidFill>
                  <a:srgbClr val="C00000"/>
                </a:solidFill>
                <a:latin typeface="+mn-lt"/>
              </a:rPr>
            </a:br>
            <a:r>
              <a:rPr lang="en-US" sz="4000" b="1" dirty="0">
                <a:solidFill>
                  <a:srgbClr val="C00000"/>
                </a:solidFill>
                <a:latin typeface="+mn-lt"/>
              </a:rPr>
              <a:t>Language Query System</a:t>
            </a:r>
            <a:endParaRPr lang="en-US" sz="4000" b="1" dirty="0">
              <a:solidFill>
                <a:srgbClr val="C00000"/>
              </a:solidFill>
              <a:latin typeface="+mn-lt"/>
            </a:endParaRPr>
          </a:p>
        </p:txBody>
      </p:sp>
      <p:sp>
        <p:nvSpPr>
          <p:cNvPr id="3" name="Subtitle 2"/>
          <p:cNvSpPr>
            <a:spLocks noGrp="1"/>
          </p:cNvSpPr>
          <p:nvPr>
            <p:ph type="subTitle" idx="1"/>
          </p:nvPr>
        </p:nvSpPr>
        <p:spPr>
          <a:xfrm>
            <a:off x="3461266" y="3478355"/>
            <a:ext cx="6210271" cy="1691522"/>
          </a:xfrm>
        </p:spPr>
        <p:txBody>
          <a:bodyPr/>
          <a:lstStyle/>
          <a:p>
            <a:r>
              <a:rPr lang="en-US" dirty="0">
                <a:solidFill>
                  <a:srgbClr val="0070C0"/>
                </a:solidFill>
              </a:rPr>
              <a:t>Team Members</a:t>
            </a:r>
          </a:p>
          <a:p>
            <a:r>
              <a:rPr lang="en-IN" dirty="0"/>
              <a:t>JAKKE VIVEK (2520030180) </a:t>
            </a:r>
          </a:p>
          <a:p>
            <a:r>
              <a:rPr lang="en-IN" dirty="0" smtClean="0"/>
              <a:t>KUMMARI </a:t>
            </a:r>
            <a:r>
              <a:rPr lang="en-IN" dirty="0"/>
              <a:t>PARTHEEV PRANEETH (2520030197) KARI PRUDHVI SAI (2520030286)</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smtClean="0">
                <a:solidFill>
                  <a:srgbClr val="0070C0"/>
                </a:solidFill>
              </a:rPr>
              <a:t>MS D SWATHI</a:t>
            </a:r>
            <a:br>
              <a:rPr lang="en-US" dirty="0" smtClean="0">
                <a:solidFill>
                  <a:srgbClr val="0070C0"/>
                </a:solidFill>
              </a:rPr>
            </a:br>
            <a:r>
              <a:rPr lang="en-IN" dirty="0">
                <a:solidFill>
                  <a:schemeClr val="accent1"/>
                </a:solidFill>
              </a:rPr>
              <a:t>Assistant Professor, CSE</a:t>
            </a:r>
            <a:endParaRPr lang="en-US" b="1"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Rectangle 3"/>
          <p:cNvSpPr/>
          <p:nvPr/>
        </p:nvSpPr>
        <p:spPr>
          <a:xfrm>
            <a:off x="3180860" y="1136087"/>
            <a:ext cx="8518769" cy="5078313"/>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TextHack+ is an advanced text analysis engine written in Java that is able to process large text datasets by implementing hand-built and highly complex algorithms. The system offers support for multiple querying types like exact pattern matching, fuzzy search with edit distance, document similarity that uses suffix structures, citation-flow analysis based on the max-flow algorithms, task scheduling illustrations for solving NP-hard problems, and probabilistic primality testing. Project implementation relies on a layered architecture starting from corpus ingestion, followed by manual algorithm engine, query services, and user interface. One of the major restrictions in the engine is that it is done from scratch without the use of java.util.* libraries which calls for custom implementation of all data structures. This aspect showcases deep understanding of algorithms and proves to be one of the biggest reason why more complex structures are essential for performing efficient text processing. By combining algorithms and their implementations into a single tool, TextHack+ is a practical application that demonstrates theoretical studies of algorithms. Each query is tied to an algorithm family in such system. Also, the system displays both results and algorithm information which makes it highly applicable as an educational tool, benchmarking tool, or research tool. The system is multi-lingual and works Mostly well in case of Indian-language Wikipedia corpora, On top of which it offers an option to do searches in the areas of medicine and domain applications with the help of TextHack</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Rectangle 4"/>
          <p:cNvSpPr/>
          <p:nvPr/>
        </p:nvSpPr>
        <p:spPr>
          <a:xfrm>
            <a:off x="3165229" y="1290099"/>
            <a:ext cx="8382001" cy="3970318"/>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TextHack+</a:t>
            </a:r>
            <a:r>
              <a:rPr lang="en-US" dirty="0">
                <a:latin typeface="Times New Roman" panose="02020603050405020304" pitchFamily="18" charset="0"/>
                <a:cs typeface="Times New Roman" panose="02020603050405020304" pitchFamily="18" charset="0"/>
              </a:rPr>
              <a:t> is an advanced text analysis engine implemented in Java designed to process large-scale text datasets using custom-designed, highly complex algorithms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provides a comprehensive platform for executing various query types—including exact string matching, fuzzy search, document similarity, citation graph flow, task scheduling, and probabilistic primality testing. </a:t>
            </a:r>
            <a:endParaRPr lang="en-US" dirty="0" smtClean="0">
              <a:latin typeface="Times New Roman" panose="02020603050405020304" pitchFamily="18" charset="0"/>
              <a:cs typeface="Times New Roman" panose="02020603050405020304" pitchFamily="18" charset="0"/>
            </a:endParaRPr>
          </a:p>
          <a:p>
            <a:pPr algn="just"/>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central highlight of TextHack+ is its strict architectural constraint: the system is constructed completely from scratch without utilizing standard utility libraries such as java.util.*. This design choice necessitates the manual implementation of all underlying data structures, serving as a practical demonstration of theoretical algorithmic principles. The architecture follows a layered model comprising corpus ingestion, a manual algorithm engine, query services, and a user interface. Additionally, it supports multi-lingual querying across Indian-language Wikipedia datasets as well as domain-specific searches in fields such as medicine.</a:t>
            </a:r>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Rectangle 3"/>
          <p:cNvSpPr/>
          <p:nvPr/>
        </p:nvSpPr>
        <p:spPr>
          <a:xfrm>
            <a:off x="3575539" y="1011430"/>
            <a:ext cx="7104184" cy="5355312"/>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The theoretical foundation of TextHack+ synthesizes multiple core areas of computer science and algorithm design: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Exact &amp; Approximate Pattern Matching</a:t>
            </a:r>
            <a:r>
              <a:rPr lang="en-US" dirty="0">
                <a:latin typeface="Times New Roman" panose="02020603050405020304" pitchFamily="18" charset="0"/>
                <a:cs typeface="Times New Roman" panose="02020603050405020304" pitchFamily="18" charset="0"/>
              </a:rPr>
              <a:t>: Traditional text retrieval relies on exact string-matching algorithms alongside edit distance models (e.g., Levenshtein distance) to support fuzzy search and fault-tolerant querying.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Suffix </a:t>
            </a:r>
            <a:r>
              <a:rPr lang="en-US" b="1" dirty="0">
                <a:latin typeface="Times New Roman" panose="02020603050405020304" pitchFamily="18" charset="0"/>
                <a:cs typeface="Times New Roman" panose="02020603050405020304" pitchFamily="18" charset="0"/>
              </a:rPr>
              <a:t>Structures &amp; Document Similarity</a:t>
            </a:r>
            <a:r>
              <a:rPr lang="en-US" dirty="0">
                <a:latin typeface="Times New Roman" panose="02020603050405020304" pitchFamily="18" charset="0"/>
                <a:cs typeface="Times New Roman" panose="02020603050405020304" pitchFamily="18" charset="0"/>
              </a:rPr>
              <a:t>: Suffix trees and arrays are widely documented in literature as optimal structures for indexing, substring matching, and assessing similarity across large text documents.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Network </a:t>
            </a:r>
            <a:r>
              <a:rPr lang="en-US" b="1" dirty="0">
                <a:latin typeface="Times New Roman" panose="02020603050405020304" pitchFamily="18" charset="0"/>
                <a:cs typeface="Times New Roman" panose="02020603050405020304" pitchFamily="18" charset="0"/>
              </a:rPr>
              <a:t>Flow &amp; Citation Analysis</a:t>
            </a:r>
            <a:r>
              <a:rPr lang="en-US" dirty="0">
                <a:latin typeface="Times New Roman" panose="02020603050405020304" pitchFamily="18" charset="0"/>
                <a:cs typeface="Times New Roman" panose="02020603050405020304" pitchFamily="18" charset="0"/>
              </a:rPr>
              <a:t>: Graph theory algorithms, particularly Max-Flow algorithms (such as Ford-Fulkerson or Edmonds-Karp), are applied to model and evaluate citation flow and structural dependencies within interconnected datasets.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Task </a:t>
            </a:r>
            <a:r>
              <a:rPr lang="en-US" b="1" dirty="0">
                <a:latin typeface="Times New Roman" panose="02020603050405020304" pitchFamily="18" charset="0"/>
                <a:cs typeface="Times New Roman" panose="02020603050405020304" pitchFamily="18" charset="0"/>
              </a:rPr>
              <a:t>Scheduling &amp; Heuristics</a:t>
            </a:r>
            <a:r>
              <a:rPr lang="en-US" dirty="0">
                <a:latin typeface="Times New Roman" panose="02020603050405020304" pitchFamily="18" charset="0"/>
                <a:cs typeface="Times New Roman" panose="02020603050405020304" pitchFamily="18" charset="0"/>
              </a:rPr>
              <a:t>: Algorithmic strategies for addressing NP-hard task scheduling problems provide models for resource allocation and computational optimization.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Probabilistic </a:t>
            </a:r>
            <a:r>
              <a:rPr lang="en-US" b="1" dirty="0">
                <a:latin typeface="Times New Roman" panose="02020603050405020304" pitchFamily="18" charset="0"/>
                <a:cs typeface="Times New Roman" panose="02020603050405020304" pitchFamily="18" charset="0"/>
              </a:rPr>
              <a:t>Number Theory</a:t>
            </a:r>
            <a:r>
              <a:rPr lang="en-US" dirty="0">
                <a:latin typeface="Times New Roman" panose="02020603050405020304" pitchFamily="18" charset="0"/>
                <a:cs typeface="Times New Roman" panose="02020603050405020304" pitchFamily="18" charset="0"/>
              </a:rPr>
              <a:t>: Fast primality testing algorithms (such as Miller-Rabin) allow for probabilistic verification without the heavy performance overhead of deterministic factorization.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ectangle 3"/>
          <p:cNvSpPr/>
          <p:nvPr/>
        </p:nvSpPr>
        <p:spPr>
          <a:xfrm>
            <a:off x="3130061" y="1188947"/>
            <a:ext cx="7526216" cy="2308324"/>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Standard high-level programming frameworks and built-in collections (e.g., Java's standard utility packages) abstract away the internal mechanics of data structures and memory management. When processing complex queries across multi-lingual datasets (such as Indian-language Wikipedia) or domain-specific data, relying on generic libraries can obscure computational trade-offs. The challenge lies in engineering a multi-functional text processing engine entirely from scratch without pre-built collections while maintaining algorithmic efficiency across diverse query types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Rectangle 3"/>
          <p:cNvSpPr/>
          <p:nvPr/>
        </p:nvSpPr>
        <p:spPr>
          <a:xfrm>
            <a:off x="3130061" y="1188947"/>
            <a:ext cx="7526216" cy="4247317"/>
          </a:xfrm>
          <a:prstGeom prst="rect">
            <a:avLst/>
          </a:prstGeom>
        </p:spPr>
        <p:txBody>
          <a:bodyPr wrap="square">
            <a:spAutoFit/>
          </a:bodyPr>
          <a:lstStyle/>
          <a:p>
            <a:pPr algn="just"/>
            <a:endParaRPr lang="en-US" dirty="0"/>
          </a:p>
          <a:p>
            <a:pPr algn="just"/>
            <a:r>
              <a:rPr lang="en-IN" b="1" dirty="0">
                <a:latin typeface="Times New Roman" panose="02020603050405020304" pitchFamily="18" charset="0"/>
                <a:cs typeface="Times New Roman" panose="02020603050405020304" pitchFamily="18" charset="0"/>
              </a:rPr>
              <a:t>Custom Data Structure Implementation</a:t>
            </a:r>
            <a:r>
              <a:rPr lang="en-IN" dirty="0">
                <a:latin typeface="Times New Roman" panose="02020603050405020304" pitchFamily="18" charset="0"/>
                <a:cs typeface="Times New Roman" panose="02020603050405020304" pitchFamily="18" charset="0"/>
              </a:rPr>
              <a:t>: Manually construct all data structures and algorithms in Java without importing java.util.* libraries.   </a:t>
            </a:r>
            <a:endParaRPr lang="en-IN" dirty="0" smtClean="0">
              <a:latin typeface="Times New Roman" panose="02020603050405020304" pitchFamily="18" charset="0"/>
              <a:cs typeface="Times New Roman" panose="02020603050405020304" pitchFamily="18" charset="0"/>
            </a:endParaRPr>
          </a:p>
          <a:p>
            <a:pPr algn="just"/>
            <a:r>
              <a:rPr lang="en-IN" b="1" dirty="0" smtClean="0">
                <a:latin typeface="Times New Roman" panose="02020603050405020304" pitchFamily="18" charset="0"/>
                <a:cs typeface="Times New Roman" panose="02020603050405020304" pitchFamily="18" charset="0"/>
              </a:rPr>
              <a:t>Multi-Modal </a:t>
            </a:r>
            <a:r>
              <a:rPr lang="en-IN" b="1" dirty="0">
                <a:latin typeface="Times New Roman" panose="02020603050405020304" pitchFamily="18" charset="0"/>
                <a:cs typeface="Times New Roman" panose="02020603050405020304" pitchFamily="18" charset="0"/>
              </a:rPr>
              <a:t>Query Services</a:t>
            </a:r>
            <a:r>
              <a:rPr lang="en-IN" dirty="0">
                <a:latin typeface="Times New Roman" panose="02020603050405020304" pitchFamily="18" charset="0"/>
                <a:cs typeface="Times New Roman" panose="02020603050405020304" pitchFamily="18" charset="0"/>
              </a:rPr>
              <a:t>: Implement support for:  </a:t>
            </a: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Exact pattern matching.   </a:t>
            </a: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Fuzzy </a:t>
            </a:r>
            <a:r>
              <a:rPr lang="en-IN" dirty="0">
                <a:latin typeface="Times New Roman" panose="02020603050405020304" pitchFamily="18" charset="0"/>
                <a:cs typeface="Times New Roman" panose="02020603050405020304" pitchFamily="18" charset="0"/>
              </a:rPr>
              <a:t>search using edit distance calculations.  </a:t>
            </a: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Document similarity analysis via suffix structures.   </a:t>
            </a: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Citation-flow </a:t>
            </a:r>
            <a:r>
              <a:rPr lang="en-IN" dirty="0">
                <a:latin typeface="Times New Roman" panose="02020603050405020304" pitchFamily="18" charset="0"/>
                <a:cs typeface="Times New Roman" panose="02020603050405020304" pitchFamily="18" charset="0"/>
              </a:rPr>
              <a:t>analysis using max-flow graph algorithms.  </a:t>
            </a: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Task scheduling illustrations for NP-hard problems.   </a:t>
            </a:r>
            <a:endParaRPr lang="en-IN" dirty="0" smtClean="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smtClean="0">
                <a:latin typeface="Times New Roman" panose="02020603050405020304" pitchFamily="18" charset="0"/>
                <a:cs typeface="Times New Roman" panose="02020603050405020304" pitchFamily="18" charset="0"/>
              </a:rPr>
              <a:t>Probabilistic </a:t>
            </a:r>
            <a:r>
              <a:rPr lang="en-IN" dirty="0">
                <a:latin typeface="Times New Roman" panose="02020603050405020304" pitchFamily="18" charset="0"/>
                <a:cs typeface="Times New Roman" panose="02020603050405020304" pitchFamily="18" charset="0"/>
              </a:rPr>
              <a:t>primality testing.   </a:t>
            </a:r>
            <a:endParaRPr lang="en-IN" dirty="0" smtClean="0">
              <a:latin typeface="Times New Roman" panose="02020603050405020304" pitchFamily="18" charset="0"/>
              <a:cs typeface="Times New Roman" panose="02020603050405020304" pitchFamily="18" charset="0"/>
            </a:endParaRPr>
          </a:p>
          <a:p>
            <a:pPr algn="just"/>
            <a:r>
              <a:rPr lang="en-IN" b="1" dirty="0" smtClean="0">
                <a:latin typeface="Times New Roman" panose="02020603050405020304" pitchFamily="18" charset="0"/>
                <a:cs typeface="Times New Roman" panose="02020603050405020304" pitchFamily="18" charset="0"/>
              </a:rPr>
              <a:t>Multi-Lingual </a:t>
            </a:r>
            <a:r>
              <a:rPr lang="en-IN" b="1" dirty="0">
                <a:latin typeface="Times New Roman" panose="02020603050405020304" pitchFamily="18" charset="0"/>
                <a:cs typeface="Times New Roman" panose="02020603050405020304" pitchFamily="18" charset="0"/>
              </a:rPr>
              <a:t>&amp; Domain Adaptation</a:t>
            </a:r>
            <a:r>
              <a:rPr lang="en-IN" dirty="0">
                <a:latin typeface="Times New Roman" panose="02020603050405020304" pitchFamily="18" charset="0"/>
                <a:cs typeface="Times New Roman" panose="02020603050405020304" pitchFamily="18" charset="0"/>
              </a:rPr>
              <a:t>: Enable processing of Indian-language Wikipedia corpora and domain applications such as medical text analysis.   </a:t>
            </a:r>
            <a:r>
              <a:rPr lang="en-IN" b="1" dirty="0">
                <a:latin typeface="Times New Roman" panose="02020603050405020304" pitchFamily="18" charset="0"/>
                <a:cs typeface="Times New Roman" panose="02020603050405020304" pitchFamily="18" charset="0"/>
              </a:rPr>
              <a:t>Educational &amp; Research Benchmarking</a:t>
            </a:r>
            <a:r>
              <a:rPr lang="en-IN" dirty="0">
                <a:latin typeface="Times New Roman" panose="02020603050405020304" pitchFamily="18" charset="0"/>
                <a:cs typeface="Times New Roman" panose="02020603050405020304" pitchFamily="18" charset="0"/>
              </a:rPr>
              <a:t>: Design the engine to display both computational results and runtime algorithm execution metrics for educational, research, and benchmarking purposes. </a:t>
            </a:r>
          </a:p>
        </p:txBody>
      </p:sp>
    </p:spTree>
    <p:extLst>
      <p:ext uri="{BB962C8B-B14F-4D97-AF65-F5344CB8AC3E}">
        <p14:creationId xmlns:p14="http://schemas.microsoft.com/office/powerpoint/2010/main" val="4291738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4884" y="979802"/>
            <a:ext cx="6657474" cy="55425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5" name="Picture 4"/>
          <p:cNvPicPr>
            <a:picLocks noChangeAspect="1"/>
          </p:cNvPicPr>
          <p:nvPr/>
        </p:nvPicPr>
        <p:blipFill>
          <a:blip r:embed="rId2"/>
          <a:stretch>
            <a:fillRect/>
          </a:stretch>
        </p:blipFill>
        <p:spPr>
          <a:xfrm>
            <a:off x="3736109" y="778740"/>
            <a:ext cx="5872974" cy="2986324"/>
          </a:xfrm>
          <a:prstGeom prst="rect">
            <a:avLst/>
          </a:prstGeom>
        </p:spPr>
      </p:pic>
      <p:pic>
        <p:nvPicPr>
          <p:cNvPr id="7" name="Picture 6"/>
          <p:cNvPicPr>
            <a:picLocks noChangeAspect="1"/>
          </p:cNvPicPr>
          <p:nvPr/>
        </p:nvPicPr>
        <p:blipFill>
          <a:blip r:embed="rId3"/>
          <a:stretch>
            <a:fillRect/>
          </a:stretch>
        </p:blipFill>
        <p:spPr>
          <a:xfrm>
            <a:off x="3736109" y="3853426"/>
            <a:ext cx="5872974" cy="2854606"/>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4" name="Picture 3"/>
          <p:cNvPicPr>
            <a:picLocks noChangeAspect="1"/>
          </p:cNvPicPr>
          <p:nvPr/>
        </p:nvPicPr>
        <p:blipFill>
          <a:blip r:embed="rId2"/>
          <a:stretch>
            <a:fillRect/>
          </a:stretch>
        </p:blipFill>
        <p:spPr>
          <a:xfrm>
            <a:off x="3736109" y="870454"/>
            <a:ext cx="5604960" cy="2818677"/>
          </a:xfrm>
          <a:prstGeom prst="rect">
            <a:avLst/>
          </a:prstGeom>
        </p:spPr>
      </p:pic>
      <p:pic>
        <p:nvPicPr>
          <p:cNvPr id="6" name="Picture 5"/>
          <p:cNvPicPr>
            <a:picLocks noChangeAspect="1"/>
          </p:cNvPicPr>
          <p:nvPr/>
        </p:nvPicPr>
        <p:blipFill>
          <a:blip r:embed="rId3"/>
          <a:stretch>
            <a:fillRect/>
          </a:stretch>
        </p:blipFill>
        <p:spPr>
          <a:xfrm>
            <a:off x="3736109" y="3780845"/>
            <a:ext cx="5604960" cy="2900033"/>
          </a:xfrm>
          <a:prstGeom prst="rect">
            <a:avLst/>
          </a:prstGeom>
        </p:spPr>
      </p:pic>
    </p:spTree>
    <p:extLst>
      <p:ext uri="{BB962C8B-B14F-4D97-AF65-F5344CB8AC3E}">
        <p14:creationId xmlns:p14="http://schemas.microsoft.com/office/powerpoint/2010/main" val="2688433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5" name="Picture 4"/>
          <p:cNvPicPr>
            <a:picLocks noChangeAspect="1"/>
          </p:cNvPicPr>
          <p:nvPr/>
        </p:nvPicPr>
        <p:blipFill>
          <a:blip r:embed="rId2"/>
          <a:stretch>
            <a:fillRect/>
          </a:stretch>
        </p:blipFill>
        <p:spPr>
          <a:xfrm>
            <a:off x="3736110" y="778740"/>
            <a:ext cx="5604960" cy="2878860"/>
          </a:xfrm>
          <a:prstGeom prst="rect">
            <a:avLst/>
          </a:prstGeom>
        </p:spPr>
      </p:pic>
      <p:pic>
        <p:nvPicPr>
          <p:cNvPr id="7" name="Picture 6"/>
          <p:cNvPicPr>
            <a:picLocks noChangeAspect="1"/>
          </p:cNvPicPr>
          <p:nvPr/>
        </p:nvPicPr>
        <p:blipFill>
          <a:blip r:embed="rId3"/>
          <a:stretch>
            <a:fillRect/>
          </a:stretch>
        </p:blipFill>
        <p:spPr>
          <a:xfrm>
            <a:off x="3736109" y="3825544"/>
            <a:ext cx="5604961" cy="2893585"/>
          </a:xfrm>
          <a:prstGeom prst="rect">
            <a:avLst/>
          </a:prstGeom>
        </p:spPr>
      </p:pic>
    </p:spTree>
    <p:extLst>
      <p:ext uri="{BB962C8B-B14F-4D97-AF65-F5344CB8AC3E}">
        <p14:creationId xmlns:p14="http://schemas.microsoft.com/office/powerpoint/2010/main" val="182201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6" name="Picture 5"/>
          <p:cNvPicPr>
            <a:picLocks noChangeAspect="1"/>
          </p:cNvPicPr>
          <p:nvPr/>
        </p:nvPicPr>
        <p:blipFill>
          <a:blip r:embed="rId2"/>
          <a:stretch>
            <a:fillRect/>
          </a:stretch>
        </p:blipFill>
        <p:spPr>
          <a:xfrm>
            <a:off x="3736109" y="869929"/>
            <a:ext cx="5604961" cy="2858616"/>
          </a:xfrm>
          <a:prstGeom prst="rect">
            <a:avLst/>
          </a:prstGeom>
        </p:spPr>
      </p:pic>
      <p:pic>
        <p:nvPicPr>
          <p:cNvPr id="8" name="Picture 7"/>
          <p:cNvPicPr>
            <a:picLocks noChangeAspect="1"/>
          </p:cNvPicPr>
          <p:nvPr/>
        </p:nvPicPr>
        <p:blipFill>
          <a:blip r:embed="rId3"/>
          <a:stretch>
            <a:fillRect/>
          </a:stretch>
        </p:blipFill>
        <p:spPr>
          <a:xfrm>
            <a:off x="3736109" y="3819734"/>
            <a:ext cx="5604961" cy="2858616"/>
          </a:xfrm>
          <a:prstGeom prst="rect">
            <a:avLst/>
          </a:prstGeom>
        </p:spPr>
      </p:pic>
    </p:spTree>
    <p:extLst>
      <p:ext uri="{BB962C8B-B14F-4D97-AF65-F5344CB8AC3E}">
        <p14:creationId xmlns:p14="http://schemas.microsoft.com/office/powerpoint/2010/main" val="4280208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Rectangle 3"/>
          <p:cNvSpPr/>
          <p:nvPr/>
        </p:nvSpPr>
        <p:spPr>
          <a:xfrm>
            <a:off x="3654372" y="1251181"/>
            <a:ext cx="7081945" cy="4093428"/>
          </a:xfrm>
          <a:prstGeom prst="rect">
            <a:avLst/>
          </a:prstGeom>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Java Development Kit (JDK 8 or higher).   </a:t>
            </a:r>
            <a:endParaRPr lang="en-IN" sz="2000" dirty="0" smtClean="0">
              <a:latin typeface="Times New Roman" panose="02020603050405020304" pitchFamily="18" charset="0"/>
              <a:cs typeface="Times New Roman" panose="02020603050405020304" pitchFamily="18" charset="0"/>
            </a:endParaRPr>
          </a:p>
          <a:p>
            <a:pPr algn="just"/>
            <a:r>
              <a:rPr lang="en-IN" sz="2000" b="1" dirty="0" smtClean="0">
                <a:latin typeface="Times New Roman" panose="02020603050405020304" pitchFamily="18" charset="0"/>
                <a:cs typeface="Times New Roman" panose="02020603050405020304" pitchFamily="18" charset="0"/>
              </a:rPr>
              <a:t>Core </a:t>
            </a:r>
            <a:r>
              <a:rPr lang="en-IN" sz="2000" b="1" dirty="0">
                <a:latin typeface="Times New Roman" panose="02020603050405020304" pitchFamily="18" charset="0"/>
                <a:cs typeface="Times New Roman" panose="02020603050405020304" pitchFamily="18" charset="0"/>
              </a:rPr>
              <a:t>Constraint</a:t>
            </a:r>
            <a:r>
              <a:rPr lang="en-IN" sz="2000" dirty="0">
                <a:latin typeface="Times New Roman" panose="02020603050405020304" pitchFamily="18" charset="0"/>
                <a:cs typeface="Times New Roman" panose="02020603050405020304" pitchFamily="18" charset="0"/>
              </a:rPr>
              <a:t>: Strictly No java.util.* libraries allowed; custom implementations required for lists, maps, trees, queues, and stacks.   </a:t>
            </a:r>
            <a:endParaRPr lang="en-IN" sz="2000" dirty="0" smtClean="0">
              <a:latin typeface="Times New Roman" panose="02020603050405020304" pitchFamily="18" charset="0"/>
              <a:cs typeface="Times New Roman" panose="02020603050405020304" pitchFamily="18" charset="0"/>
            </a:endParaRPr>
          </a:p>
          <a:p>
            <a:pPr algn="just"/>
            <a:r>
              <a:rPr lang="en-IN" sz="2000" b="1" dirty="0" smtClean="0">
                <a:latin typeface="Times New Roman" panose="02020603050405020304" pitchFamily="18" charset="0"/>
                <a:cs typeface="Times New Roman" panose="02020603050405020304" pitchFamily="18" charset="0"/>
              </a:rPr>
              <a:t>Operating </a:t>
            </a:r>
            <a:r>
              <a:rPr lang="en-IN" sz="2000" b="1" dirty="0">
                <a:latin typeface="Times New Roman" panose="02020603050405020304" pitchFamily="18" charset="0"/>
                <a:cs typeface="Times New Roman" panose="02020603050405020304" pitchFamily="18" charset="0"/>
              </a:rPr>
              <a:t>System</a:t>
            </a:r>
            <a:r>
              <a:rPr lang="en-IN" sz="2000" dirty="0">
                <a:latin typeface="Times New Roman" panose="02020603050405020304" pitchFamily="18" charset="0"/>
                <a:cs typeface="Times New Roman" panose="02020603050405020304" pitchFamily="18" charset="0"/>
              </a:rPr>
              <a:t>: Cross-platform (Windows, Linux, or macOS).   </a:t>
            </a:r>
            <a:endParaRPr lang="en-IN" sz="2000" dirty="0" smtClean="0">
              <a:latin typeface="Times New Roman" panose="02020603050405020304" pitchFamily="18" charset="0"/>
              <a:cs typeface="Times New Roman" panose="02020603050405020304" pitchFamily="18" charset="0"/>
            </a:endParaRPr>
          </a:p>
          <a:p>
            <a:pPr algn="just"/>
            <a:r>
              <a:rPr lang="en-IN" sz="2000" b="1" dirty="0" smtClean="0">
                <a:latin typeface="Times New Roman" panose="02020603050405020304" pitchFamily="18" charset="0"/>
                <a:cs typeface="Times New Roman" panose="02020603050405020304" pitchFamily="18" charset="0"/>
              </a:rPr>
              <a:t>Target </a:t>
            </a:r>
            <a:r>
              <a:rPr lang="en-IN" sz="2000" b="1" dirty="0">
                <a:latin typeface="Times New Roman" panose="02020603050405020304" pitchFamily="18" charset="0"/>
                <a:cs typeface="Times New Roman" panose="02020603050405020304" pitchFamily="18" charset="0"/>
              </a:rPr>
              <a:t>Datasets</a:t>
            </a:r>
            <a:r>
              <a:rPr lang="en-IN" sz="2000" dirty="0">
                <a:latin typeface="Times New Roman" panose="02020603050405020304" pitchFamily="18" charset="0"/>
                <a:cs typeface="Times New Roman" panose="02020603050405020304" pitchFamily="18" charset="0"/>
              </a:rPr>
              <a:t>: Indian-language Wikipedia corpora and medical domain text datasets. </a:t>
            </a:r>
            <a:endParaRPr lang="en-IN" sz="2000" dirty="0" smtClean="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Multi-core Intel Core i5/i7 or equivalent CPU (to handle algorithm execution and corpus ingestion).   </a:t>
            </a:r>
            <a:endParaRPr lang="en-IN" sz="2000" dirty="0" smtClean="0">
              <a:latin typeface="Times New Roman" panose="02020603050405020304" pitchFamily="18" charset="0"/>
              <a:cs typeface="Times New Roman" panose="02020603050405020304" pitchFamily="18" charset="0"/>
            </a:endParaRPr>
          </a:p>
          <a:p>
            <a:pPr algn="just"/>
            <a:r>
              <a:rPr lang="en-IN" sz="2000" b="1" dirty="0" smtClean="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8 GB minimum (16 GB recommended to support custom memory allocations for large datasets).   </a:t>
            </a:r>
            <a:endParaRPr lang="en-IN" sz="2000" dirty="0" smtClean="0">
              <a:latin typeface="Times New Roman" panose="02020603050405020304" pitchFamily="18" charset="0"/>
              <a:cs typeface="Times New Roman" panose="02020603050405020304" pitchFamily="18" charset="0"/>
            </a:endParaRPr>
          </a:p>
          <a:p>
            <a:pPr algn="just"/>
            <a:r>
              <a:rPr lang="en-IN" sz="2000" b="1" dirty="0" smtClean="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Standard SSD/HDD with space allocated for local text dataset ingestion</a:t>
            </a:r>
          </a:p>
        </p:txBody>
      </p:sp>
    </p:spTree>
    <p:extLst>
      <p:ext uri="{BB962C8B-B14F-4D97-AF65-F5344CB8AC3E}">
        <p14:creationId xmlns:p14="http://schemas.microsoft.com/office/powerpoint/2010/main" val="2292750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Rectangle 3"/>
          <p:cNvSpPr/>
          <p:nvPr/>
        </p:nvSpPr>
        <p:spPr>
          <a:xfrm>
            <a:off x="3736108" y="1151601"/>
            <a:ext cx="7013953" cy="2308324"/>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TextHack+ successfully integrates advanced theoretical algorithm concepts into a working text processing software system. By enforcing the custom implementation of all data structures without java.util.*, the system demonstrates a deep foundational understanding of algorithmic design and efficiency. Featuring a layered architecture and supporting specialized applications in medicine and Indian-language corpora, TextHack+ serves as an effective educational, benchmarking, and research tool.</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Rectangle 1"/>
          <p:cNvSpPr/>
          <p:nvPr/>
        </p:nvSpPr>
        <p:spPr>
          <a:xfrm>
            <a:off x="3736109" y="1339170"/>
            <a:ext cx="7178076" cy="2585323"/>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Parallel &amp; Distributed Processing</a:t>
            </a:r>
            <a:r>
              <a:rPr lang="en-US" dirty="0">
                <a:latin typeface="Times New Roman" panose="02020603050405020304" pitchFamily="18" charset="0"/>
                <a:cs typeface="Times New Roman" panose="02020603050405020304" pitchFamily="18" charset="0"/>
              </a:rPr>
              <a:t>: Enhancing custom data structures to support multi-threading and distributed dataset processing for even larger corpora.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Advanced </a:t>
            </a:r>
            <a:r>
              <a:rPr lang="en-US" b="1" dirty="0">
                <a:latin typeface="Times New Roman" panose="02020603050405020304" pitchFamily="18" charset="0"/>
                <a:cs typeface="Times New Roman" panose="02020603050405020304" pitchFamily="18" charset="0"/>
              </a:rPr>
              <a:t>Graphical Visualizations</a:t>
            </a:r>
            <a:r>
              <a:rPr lang="en-US" dirty="0">
                <a:latin typeface="Times New Roman" panose="02020603050405020304" pitchFamily="18" charset="0"/>
                <a:cs typeface="Times New Roman" panose="02020603050405020304" pitchFamily="18" charset="0"/>
              </a:rPr>
              <a:t>: Expanding the user interface to provide step-by-step visual graph execution for max-flow citation analysis and suffix tree construction.   </a:t>
            </a:r>
            <a:endParaRPr lang="en-US"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Domain </a:t>
            </a:r>
            <a:r>
              <a:rPr lang="en-US" b="1" dirty="0">
                <a:latin typeface="Times New Roman" panose="02020603050405020304" pitchFamily="18" charset="0"/>
                <a:cs typeface="Times New Roman" panose="02020603050405020304" pitchFamily="18" charset="0"/>
              </a:rPr>
              <a:t>&amp; Language Expansion</a:t>
            </a:r>
            <a:r>
              <a:rPr lang="en-US" dirty="0">
                <a:latin typeface="Times New Roman" panose="02020603050405020304" pitchFamily="18" charset="0"/>
                <a:cs typeface="Times New Roman" panose="02020603050405020304" pitchFamily="18" charset="0"/>
              </a:rPr>
              <a:t>: Extending specialized search modules to cover additional domains (e.g., legal or scientific literature) and refining tokenization for complex Indian scripts.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1125</Words>
  <Application>Microsoft Office PowerPoint</Application>
  <PresentationFormat>Widescreen</PresentationFormat>
  <Paragraphs>61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Gautami</vt:lpstr>
      <vt:lpstr>Times New Roman</vt:lpstr>
      <vt:lpstr>Office Theme</vt:lpstr>
      <vt:lpstr>       Data Structures and Algorithms -3 (25CS2103E)  Text Hack Pluse Intelligent  Language Query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Prudhvisai Kari</cp:lastModifiedBy>
  <cp:revision>28</cp:revision>
  <dcterms:created xsi:type="dcterms:W3CDTF">2024-08-29T05:25:00Z</dcterms:created>
  <dcterms:modified xsi:type="dcterms:W3CDTF">2026-10-12T05:21:56Z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